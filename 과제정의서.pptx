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4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1344" userDrawn="1">
          <p15:clr>
            <a:srgbClr val="A4A3A4"/>
          </p15:clr>
        </p15:guide>
        <p15:guide id="5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FF"/>
    <a:srgbClr val="F1CB9D"/>
    <a:srgbClr val="587EAC"/>
    <a:srgbClr val="E0E7F0"/>
    <a:srgbClr val="A6BAD3"/>
    <a:srgbClr val="CFDAE7"/>
    <a:srgbClr val="123F8A"/>
    <a:srgbClr val="BFD0E2"/>
    <a:srgbClr val="F2D7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 autoAdjust="0"/>
    <p:restoredTop sz="95531" autoAdjust="0"/>
  </p:normalViewPr>
  <p:slideViewPr>
    <p:cSldViewPr snapToGrid="0" showGuides="1">
      <p:cViewPr varScale="1">
        <p:scale>
          <a:sx n="126" d="100"/>
          <a:sy n="126" d="100"/>
        </p:scale>
        <p:origin x="232" y="216"/>
      </p:cViewPr>
      <p:guideLst>
        <p:guide orient="horz" pos="134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212"/>
    </p:cViewPr>
  </p:sorterViewPr>
  <p:notesViewPr>
    <p:cSldViewPr snapToGrid="0" showGuides="1">
      <p:cViewPr varScale="1">
        <p:scale>
          <a:sx n="81" d="100"/>
          <a:sy n="81" d="100"/>
        </p:scale>
        <p:origin x="304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26DCF-1716-484D-9C58-882373CAEEA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30DA2B-892C-4FCF-91BB-9CADED816C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6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EE1E8-2192-DDAB-4005-E2FCC9C19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1638F6-040A-61D7-58E6-2D47D4A35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C5A57E-B8C7-C607-3735-927708ED2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7BD000-F6C5-7D1E-E5D3-88DC9EE72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48A19-E83C-4C22-9205-EB160126EF9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280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E7B05C87-D165-51D6-36F8-16BC31906585}"/>
              </a:ext>
            </a:extLst>
          </p:cNvPr>
          <p:cNvGrpSpPr/>
          <p:nvPr userDrawn="1"/>
        </p:nvGrpSpPr>
        <p:grpSpPr>
          <a:xfrm>
            <a:off x="-4121892" y="-16957"/>
            <a:ext cx="3862284" cy="4018251"/>
            <a:chOff x="-5226792" y="-3449235"/>
            <a:chExt cx="3862284" cy="4018251"/>
          </a:xfrm>
        </p:grpSpPr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1349A59A-3BC3-20C0-B4A2-78B90D53FCC8}"/>
                </a:ext>
              </a:extLst>
            </p:cNvPr>
            <p:cNvSpPr/>
            <p:nvPr/>
          </p:nvSpPr>
          <p:spPr>
            <a:xfrm>
              <a:off x="-5226792" y="-192524"/>
              <a:ext cx="1873992" cy="761540"/>
            </a:xfrm>
            <a:prstGeom prst="rect">
              <a:avLst/>
            </a:prstGeom>
            <a:solidFill>
              <a:srgbClr val="C2D1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#C2D1E3</a:t>
              </a:r>
              <a:endParaRPr lang="ko-KR" altLang="en-US" dirty="0"/>
            </a:p>
          </p:txBody>
        </p:sp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EA758A18-1193-A117-A64B-C530B493532C}"/>
                </a:ext>
              </a:extLst>
            </p:cNvPr>
            <p:cNvSpPr/>
            <p:nvPr/>
          </p:nvSpPr>
          <p:spPr>
            <a:xfrm>
              <a:off x="-5226790" y="-963426"/>
              <a:ext cx="1873992" cy="703838"/>
            </a:xfrm>
            <a:prstGeom prst="roundRect">
              <a:avLst>
                <a:gd name="adj" fmla="val 0"/>
              </a:avLst>
            </a:prstGeom>
            <a:solidFill>
              <a:srgbClr val="7F9F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#7F9FC8</a:t>
              </a:r>
              <a:endParaRPr lang="ko-KR" altLang="en-US" dirty="0"/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C15653DF-7EF2-F5C8-2819-964CA6196EAB}"/>
                </a:ext>
              </a:extLst>
            </p:cNvPr>
            <p:cNvSpPr/>
            <p:nvPr/>
          </p:nvSpPr>
          <p:spPr>
            <a:xfrm>
              <a:off x="-5226791" y="-3449235"/>
              <a:ext cx="1873992" cy="761540"/>
            </a:xfrm>
            <a:prstGeom prst="rect">
              <a:avLst/>
            </a:prstGeom>
            <a:solidFill>
              <a:srgbClr val="0138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#013882</a:t>
              </a:r>
              <a:endParaRPr lang="ko-KR" altLang="en-US" dirty="0">
                <a:solidFill>
                  <a:srgbClr val="013882"/>
                </a:solidFill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18074296-84AC-2E51-C2EB-56C57E760855}"/>
                </a:ext>
              </a:extLst>
            </p:cNvPr>
            <p:cNvSpPr/>
            <p:nvPr/>
          </p:nvSpPr>
          <p:spPr>
            <a:xfrm>
              <a:off x="-5226792" y="-2620632"/>
              <a:ext cx="1873992" cy="761540"/>
            </a:xfrm>
            <a:prstGeom prst="rect">
              <a:avLst/>
            </a:prstGeom>
            <a:solidFill>
              <a:srgbClr val="123F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#1F4F93</a:t>
              </a:r>
              <a:endParaRPr lang="ko-KR" altLang="en-US" dirty="0"/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AB723417-BCD4-D67A-ABF3-1C781C080C75}"/>
                </a:ext>
              </a:extLst>
            </p:cNvPr>
            <p:cNvSpPr/>
            <p:nvPr/>
          </p:nvSpPr>
          <p:spPr>
            <a:xfrm>
              <a:off x="-5226792" y="-1792029"/>
              <a:ext cx="1873992" cy="761540"/>
            </a:xfrm>
            <a:prstGeom prst="rect">
              <a:avLst/>
            </a:prstGeom>
            <a:solidFill>
              <a:srgbClr val="245A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#245A99</a:t>
              </a:r>
              <a:endParaRPr lang="ko-KR" altLang="en-US" dirty="0">
                <a:solidFill>
                  <a:srgbClr val="013882"/>
                </a:solidFill>
              </a:endParaRPr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DB36C09E-B34E-B0F6-2196-3005FE4A2FD3}"/>
                </a:ext>
              </a:extLst>
            </p:cNvPr>
            <p:cNvSpPr/>
            <p:nvPr userDrawn="1"/>
          </p:nvSpPr>
          <p:spPr>
            <a:xfrm>
              <a:off x="-3238500" y="-3449235"/>
              <a:ext cx="1873992" cy="761540"/>
            </a:xfrm>
            <a:prstGeom prst="rect">
              <a:avLst/>
            </a:prstGeom>
            <a:solidFill>
              <a:srgbClr val="E49B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#E49B3F</a:t>
              </a:r>
              <a:endParaRPr lang="ko-KR" altLang="en-US" dirty="0">
                <a:solidFill>
                  <a:srgbClr val="013882"/>
                </a:solidFill>
              </a:endParaRPr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7084090B-7373-4726-9A49-C85E33AE58B3}"/>
                </a:ext>
              </a:extLst>
            </p:cNvPr>
            <p:cNvSpPr/>
            <p:nvPr/>
          </p:nvSpPr>
          <p:spPr>
            <a:xfrm>
              <a:off x="-3238500" y="-2620632"/>
              <a:ext cx="1873992" cy="761540"/>
            </a:xfrm>
            <a:prstGeom prst="rect">
              <a:avLst/>
            </a:prstGeom>
            <a:solidFill>
              <a:srgbClr val="F2C9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#F2C94C</a:t>
              </a:r>
              <a:endParaRPr lang="ko-KR" altLang="en-US" dirty="0">
                <a:solidFill>
                  <a:srgbClr val="013882"/>
                </a:solidFill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04D8D9-06A5-7570-B8B5-716D161433C4}"/>
              </a:ext>
            </a:extLst>
          </p:cNvPr>
          <p:cNvSpPr/>
          <p:nvPr userDrawn="1"/>
        </p:nvSpPr>
        <p:spPr>
          <a:xfrm>
            <a:off x="12451608" y="682818"/>
            <a:ext cx="2070992" cy="576000"/>
          </a:xfrm>
          <a:prstGeom prst="rect">
            <a:avLst/>
          </a:prstGeom>
          <a:solidFill>
            <a:srgbClr val="0F4A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#0F4A8A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05462A-4409-D97E-8280-58C4BB476056}"/>
              </a:ext>
            </a:extLst>
          </p:cNvPr>
          <p:cNvSpPr/>
          <p:nvPr userDrawn="1"/>
        </p:nvSpPr>
        <p:spPr>
          <a:xfrm>
            <a:off x="12451608" y="1409655"/>
            <a:ext cx="2070992" cy="576000"/>
          </a:xfrm>
          <a:prstGeom prst="rect">
            <a:avLst/>
          </a:prstGeom>
          <a:solidFill>
            <a:srgbClr val="164D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#1B5A96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7447DD-D2DC-7743-1749-1807BC43D862}"/>
              </a:ext>
            </a:extLst>
          </p:cNvPr>
          <p:cNvSpPr/>
          <p:nvPr userDrawn="1"/>
        </p:nvSpPr>
        <p:spPr>
          <a:xfrm>
            <a:off x="12451608" y="-44019"/>
            <a:ext cx="2070992" cy="576000"/>
          </a:xfrm>
          <a:prstGeom prst="rect">
            <a:avLst/>
          </a:prstGeom>
          <a:solidFill>
            <a:srgbClr val="0138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#013882</a:t>
            </a:r>
            <a:endParaRPr lang="ko-KR" altLang="en-US" dirty="0">
              <a:solidFill>
                <a:srgbClr val="013882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56C11F-A27E-1D83-3442-EDE136DDA966}"/>
              </a:ext>
            </a:extLst>
          </p:cNvPr>
          <p:cNvSpPr/>
          <p:nvPr userDrawn="1"/>
        </p:nvSpPr>
        <p:spPr>
          <a:xfrm>
            <a:off x="12451608" y="2136493"/>
            <a:ext cx="2070992" cy="576000"/>
          </a:xfrm>
          <a:prstGeom prst="rect">
            <a:avLst/>
          </a:prstGeom>
          <a:solidFill>
            <a:srgbClr val="245A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#245A99</a:t>
            </a:r>
            <a:endParaRPr lang="ko-KR" altLang="en-US" dirty="0">
              <a:solidFill>
                <a:srgbClr val="0138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796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745700-C1A0-EC56-E05C-AFB779647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55595D-5F5E-DFFC-C6F9-D4AEBC8CF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936CAA-D6E5-D07D-2B36-AE9E17899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048944-27DD-874D-02AC-F6FDAE68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504B92-48BC-C07D-BB00-4DF623393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09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EE5BE-724C-3A2D-930F-C06238D05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3F9792-5DBE-EA44-7E29-C1D8B7849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8DC3ED-FB8D-98CC-175B-83561CB2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28E21E-A1F5-FF04-A8BF-D57F935D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6AAEB1-60AD-0995-C13E-B1CFF79C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18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8574C7-6316-DFA7-EAB4-536406501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844CE9-2BC9-A967-3985-F2532E4998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59B8C9-4347-37FB-6125-A32EF64F8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755258-A06D-3AB0-2609-53D09F2D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5A3BE9-A4F4-8592-DB05-7AAF76E78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6AE219-3BAA-2FBD-9503-66C7211AA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703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324E0D-7E5D-53EC-89D3-35D5D1AA2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7B3BC6-377C-A099-507C-BE39BA659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FFCA5D-1F65-1B6A-5BF9-E9920399F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54032AA-4DC1-4DBC-9F9A-66C105DC41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BD8FDA-8FE9-96FC-877E-18045E4B74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986FAB2-44CD-D0D7-8C4C-0B8F00CEB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C7C64D0-E188-1856-0E84-36B23F1FC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7817763-E4CE-7599-A869-9BDA78105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815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7DBB8-5C2B-EF49-DCFA-12704DA7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4158B1-56E3-1C05-8F33-73E7C39DA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DE1582-BA75-6AD0-6EA9-A6E2E7EE8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E91663-5D18-7287-CB4E-782D3E13B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953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EB0960-C962-8822-6F4D-1EC794B02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9B2791C-A526-77FA-D2DD-D0F2378A8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82B313-996E-1F12-5A61-0B3530FB4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992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C47A32-DF1F-A694-F1FB-9EE33D690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BEF96B-6F1B-2F31-08EC-6374DE94F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270107-7E89-EF3F-7810-E96DE9620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916488-28A4-C1E3-2EE0-6EA74B29D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E60868-A59B-050A-5944-805513F5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894AFD-DE3A-E415-DE81-8D397C879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771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0A1152-F19D-5C72-2872-11C31AA4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2323DA-49D4-8635-0B25-172335E5D2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1ED35F-E555-C03C-8A96-7880D048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167135-C08B-11AB-1326-63F243C2B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8A3D01-6121-C551-B944-69B6BF7C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88D3B3-40E8-73CA-B50A-A7278D65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480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BF5BA-8888-4D7B-ED2F-3BBAD220B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0293A3-C166-D782-FE05-33C7C4E1D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9067F4-D243-6200-7C45-41AE3510A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C1059D-B163-8AB8-71B8-609CF1817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60EA92-0BBE-050E-85A0-005C3230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32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531225F-CD7F-F9FE-134A-511A3ACE44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0FDE50-E606-D711-6DA9-537D80677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B5F04-BD1E-084C-8D0F-B9E43B15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7B5197-F66B-1AC9-F65E-AB8227EB6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4621F8-5981-9F8B-0C68-C1D8F813B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63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F40205-ABCC-24E6-5B30-AF722B6AC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F19298-AF24-F546-78DC-38C85A25E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F495C4-D990-47E5-87EB-7F0830E8B335}" type="datetimeFigureOut">
              <a:rPr lang="ko-KR" altLang="en-US" smtClean="0"/>
              <a:t>2026. 5. 29.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DD5B5C-FB58-FC78-08D4-611B043FD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45283A-82ED-BC8E-22D3-FA198A1A8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18EBF-BC35-4927-88D5-71E798A45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157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C5698-F78E-FA5C-F38F-DE8548280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922A2B16-08E8-C6F8-60A9-647B03E88E7E}"/>
              </a:ext>
            </a:extLst>
          </p:cNvPr>
          <p:cNvSpPr/>
          <p:nvPr/>
        </p:nvSpPr>
        <p:spPr>
          <a:xfrm>
            <a:off x="480339" y="2991059"/>
            <a:ext cx="5506696" cy="3587439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r>
              <a:rPr lang="ko-KR" altLang="ko-KR" sz="1100" b="1" dirty="0"/>
              <a:t>① 업무 프로세스 흐름</a:t>
            </a:r>
            <a:endParaRPr lang="en-US" altLang="ko-KR" sz="1100" b="1" dirty="0"/>
          </a:p>
          <a:p>
            <a:r>
              <a:rPr lang="en-US" altLang="ko-KR" sz="1100" dirty="0"/>
              <a:t>:</a:t>
            </a:r>
            <a:r>
              <a:rPr lang="ko-KR" altLang="en-US" sz="1100" dirty="0"/>
              <a:t> </a:t>
            </a:r>
            <a:r>
              <a:rPr lang="ko-KR" altLang="ko-KR" sz="1100" dirty="0"/>
              <a:t>기자 정보 수집 → 기자 기사 검색 및 열람 → 관심 분야 및 기사 성향 분석 → 관련 기사 정리 → 미팅 및 인터뷰 대응자료 작성 → 대외 커뮤니케이션 수행</a:t>
            </a:r>
          </a:p>
          <a:p>
            <a:endParaRPr lang="en-US" altLang="ko-KR" sz="1100" b="1" dirty="0"/>
          </a:p>
          <a:p>
            <a:r>
              <a:rPr lang="ko-KR" altLang="ko-KR" sz="1100" b="1" dirty="0"/>
              <a:t>② </a:t>
            </a:r>
            <a:r>
              <a:rPr lang="ko-KR" altLang="ko-KR" sz="1100" b="1" dirty="0" err="1"/>
              <a:t>Pain</a:t>
            </a:r>
            <a:r>
              <a:rPr lang="ko-KR" altLang="ko-KR" sz="1100" b="1" dirty="0"/>
              <a:t> </a:t>
            </a:r>
            <a:r>
              <a:rPr lang="ko-KR" altLang="ko-KR" sz="1100" b="1" dirty="0" err="1"/>
              <a:t>Point</a:t>
            </a:r>
            <a:endParaRPr lang="ko-KR" altLang="ko-KR" sz="1100" b="1" dirty="0"/>
          </a:p>
          <a:p>
            <a:r>
              <a:rPr lang="ko-KR" altLang="en-US" sz="1100" dirty="0"/>
              <a:t> </a:t>
            </a:r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ko-KR" altLang="ko-KR" sz="1100" dirty="0"/>
              <a:t>기자 정보를 다양한 사이트에서 개별적으로</a:t>
            </a:r>
            <a:r>
              <a:rPr lang="en-US" altLang="ko-KR" sz="1100" dirty="0"/>
              <a:t>. </a:t>
            </a:r>
            <a:r>
              <a:rPr lang="ko-KR" altLang="ko-KR" sz="1100" dirty="0"/>
              <a:t>검색하여 업무 시간이 과다 소요됨</a:t>
            </a:r>
          </a:p>
          <a:p>
            <a:r>
              <a:rPr lang="ko-KR" altLang="en-US" sz="1100" dirty="0"/>
              <a:t> </a:t>
            </a:r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ko-KR" altLang="ko-KR" sz="1100" dirty="0"/>
              <a:t>기자 관심사 및 기사 성향 분석이 담당자 경험에 의존함</a:t>
            </a:r>
          </a:p>
          <a:p>
            <a:r>
              <a:rPr lang="ko-KR" altLang="en-US" sz="1100" dirty="0"/>
              <a:t> </a:t>
            </a:r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ko-KR" altLang="ko-KR" sz="1100" dirty="0" err="1"/>
              <a:t>기자별</a:t>
            </a:r>
            <a:r>
              <a:rPr lang="ko-KR" altLang="ko-KR" sz="1100" dirty="0"/>
              <a:t> 최신 관심 이슈를 실시간으로 파악하기 어려움</a:t>
            </a:r>
          </a:p>
          <a:p>
            <a:r>
              <a:rPr lang="ko-KR" altLang="en-US" sz="1100" dirty="0"/>
              <a:t> </a:t>
            </a:r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ko-KR" altLang="ko-KR" sz="1100" dirty="0"/>
              <a:t>사업회사별 대응 메시지 작성 시 관련 자료 탐색에 많은 시간이 필요함</a:t>
            </a:r>
          </a:p>
          <a:p>
            <a:r>
              <a:rPr lang="ko-KR" altLang="en-US" sz="1100" dirty="0"/>
              <a:t> </a:t>
            </a:r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ko-KR" altLang="ko-KR" sz="1100" dirty="0"/>
              <a:t>반복적인 기사 검색 및 분석 업무로 전략적 홍보 활동에 집중하기 어려움</a:t>
            </a:r>
          </a:p>
          <a:p>
            <a:r>
              <a:rPr lang="ko-KR" altLang="en-US" sz="1100" dirty="0"/>
              <a:t> </a:t>
            </a:r>
            <a:r>
              <a:rPr lang="en-US" altLang="ko-KR" sz="1100" dirty="0"/>
              <a:t>-</a:t>
            </a:r>
            <a:r>
              <a:rPr lang="ko-KR" altLang="en-US" sz="1100" dirty="0"/>
              <a:t> </a:t>
            </a:r>
            <a:r>
              <a:rPr lang="ko-KR" altLang="ko-KR" sz="1100" dirty="0"/>
              <a:t>담당자별 분석 수준 차이</a:t>
            </a:r>
            <a:r>
              <a:rPr lang="ko-KR" altLang="en-US" sz="1100" dirty="0"/>
              <a:t> 발생</a:t>
            </a:r>
            <a:endParaRPr lang="ko-KR" altLang="ko-KR" sz="11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25C036-788E-B228-8059-69F0A265F750}"/>
              </a:ext>
            </a:extLst>
          </p:cNvPr>
          <p:cNvSpPr/>
          <p:nvPr/>
        </p:nvSpPr>
        <p:spPr>
          <a:xfrm>
            <a:off x="6204968" y="2991059"/>
            <a:ext cx="5489194" cy="3587439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" lastClr="FFFFFF">
                <a:lumMod val="50000"/>
              </a:sysClr>
            </a:solidFill>
            <a:prstDash val="solid"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>
              <a:buNone/>
            </a:pPr>
            <a:r>
              <a:rPr lang="ko-KR" altLang="ko-KR" sz="1100" b="1" dirty="0"/>
              <a:t>① </a:t>
            </a:r>
            <a:r>
              <a:rPr lang="ko-KR" altLang="ko-KR" sz="1100" b="1" dirty="0" err="1"/>
              <a:t>Agent</a:t>
            </a:r>
            <a:r>
              <a:rPr lang="ko-KR" altLang="ko-KR" sz="1100" b="1" dirty="0"/>
              <a:t> 기반 업무 프로세스</a:t>
            </a:r>
          </a:p>
          <a:p>
            <a:pPr>
              <a:buNone/>
            </a:pPr>
            <a:r>
              <a:rPr lang="en-US" altLang="ko-KR" sz="1100" dirty="0"/>
              <a:t>:</a:t>
            </a:r>
            <a:r>
              <a:rPr lang="ko-KR" altLang="en-US" sz="1100" dirty="0"/>
              <a:t> </a:t>
            </a:r>
            <a:r>
              <a:rPr lang="ko-KR" altLang="ko-KR" sz="1100" dirty="0" err="1"/>
              <a:t>기자명·매체명</a:t>
            </a:r>
            <a:r>
              <a:rPr lang="ko-KR" altLang="ko-KR" sz="1100" dirty="0"/>
              <a:t> 입력 → 뉴스 API 기반 기사 자동 수집 → AI 기반 </a:t>
            </a:r>
            <a:r>
              <a:rPr lang="ko-KR" altLang="ko-KR" sz="1100" dirty="0" err="1"/>
              <a:t>관심사·논조</a:t>
            </a:r>
            <a:r>
              <a:rPr lang="ko-KR" altLang="ko-KR" sz="1100" dirty="0"/>
              <a:t> 분석 → </a:t>
            </a:r>
            <a:r>
              <a:rPr lang="ko-KR" altLang="ko-KR" sz="1100" dirty="0" err="1"/>
              <a:t>포스코그룹</a:t>
            </a:r>
            <a:r>
              <a:rPr lang="ko-KR" altLang="ko-KR" sz="1100" dirty="0"/>
              <a:t> 관련 기사 자동 매핑 → 사업회사별 </a:t>
            </a:r>
            <a:r>
              <a:rPr lang="ko-KR" altLang="ko-KR" sz="1100" dirty="0" err="1"/>
              <a:t>토킹포인트</a:t>
            </a:r>
            <a:r>
              <a:rPr lang="ko-KR" altLang="ko-KR" sz="1100" dirty="0"/>
              <a:t> 생성 → </a:t>
            </a:r>
            <a:r>
              <a:rPr lang="ko-KR" altLang="ko-KR" sz="1100" dirty="0" err="1"/>
              <a:t>웹앱</a:t>
            </a:r>
            <a:r>
              <a:rPr lang="ko-KR" altLang="ko-KR" sz="1100" dirty="0"/>
              <a:t> 기반 결과 제공(</a:t>
            </a:r>
            <a:r>
              <a:rPr lang="ko-KR" altLang="ko-KR" sz="1100" dirty="0" err="1"/>
              <a:t>PC·모바일</a:t>
            </a:r>
            <a:r>
              <a:rPr lang="ko-KR" altLang="ko-KR" sz="1100" dirty="0"/>
              <a:t>)</a:t>
            </a:r>
          </a:p>
          <a:p>
            <a:pPr>
              <a:buNone/>
            </a:pPr>
            <a:endParaRPr lang="en-US" altLang="ko-KR" sz="1100" b="1" dirty="0"/>
          </a:p>
          <a:p>
            <a:pPr>
              <a:buNone/>
            </a:pPr>
            <a:r>
              <a:rPr lang="ko-KR" altLang="ko-KR" sz="1100" b="1" dirty="0"/>
              <a:t>② 주요</a:t>
            </a:r>
            <a:r>
              <a:rPr lang="ko-KR" altLang="en-US" sz="1100" b="1" dirty="0"/>
              <a:t> 개발 내용</a:t>
            </a:r>
            <a:endParaRPr lang="ko-KR" altLang="ko-KR" sz="1100" b="1" dirty="0"/>
          </a:p>
          <a:p>
            <a:r>
              <a:rPr lang="ko-KR" altLang="en-US" sz="1100" dirty="0"/>
              <a:t> </a:t>
            </a:r>
            <a:r>
              <a:rPr lang="ko-KR" altLang="en-US" sz="1100" dirty="0" err="1"/>
              <a:t>포스코그룹</a:t>
            </a:r>
            <a:r>
              <a:rPr lang="ko-KR" altLang="en-US" sz="1100" dirty="0"/>
              <a:t> 대외 홍보 부서가 업무에 실질적으로 활용 가능한 그룹 공통 </a:t>
            </a:r>
            <a:r>
              <a:rPr lang="en-US" altLang="ko-KR" sz="1100" dirty="0"/>
              <a:t>AI </a:t>
            </a:r>
            <a:r>
              <a:rPr lang="ko-KR" altLang="en-US" sz="1100" dirty="0"/>
              <a:t>애플리케이션 개발</a:t>
            </a:r>
            <a:br>
              <a:rPr lang="ko-KR" altLang="en-US" sz="1100" dirty="0"/>
            </a:br>
            <a:r>
              <a:rPr lang="en-US" altLang="ko-KR" sz="1100" dirty="0"/>
              <a:t>-</a:t>
            </a:r>
            <a:r>
              <a:rPr lang="ko-KR" altLang="en-US" sz="1100" dirty="0"/>
              <a:t> 모듈</a:t>
            </a:r>
            <a:r>
              <a:rPr lang="en-US" altLang="ko-KR" sz="1100" dirty="0"/>
              <a:t>1(</a:t>
            </a:r>
            <a:r>
              <a:rPr lang="ko-KR" altLang="en-US" sz="1100" dirty="0"/>
              <a:t>기자 분석</a:t>
            </a:r>
            <a:r>
              <a:rPr lang="en-US" altLang="ko-KR" sz="1100" dirty="0"/>
              <a:t>) : </a:t>
            </a:r>
            <a:r>
              <a:rPr lang="ko-KR" altLang="en-US" sz="1100" dirty="0"/>
              <a:t>기자와 </a:t>
            </a:r>
            <a:r>
              <a:rPr lang="ko-KR" altLang="en-US" sz="1100" dirty="0" err="1"/>
              <a:t>미팅시</a:t>
            </a:r>
            <a:r>
              <a:rPr lang="ko-KR" altLang="en-US" sz="1100" dirty="0"/>
              <a:t> 활용하기 위한 기자 정보 분석</a:t>
            </a:r>
            <a:br>
              <a:rPr lang="en-US" altLang="ko-KR" sz="1100" dirty="0"/>
            </a:br>
            <a:r>
              <a:rPr lang="en-US" altLang="ko-KR" sz="1100" dirty="0"/>
              <a:t>-</a:t>
            </a:r>
            <a:r>
              <a:rPr lang="ko-KR" altLang="en-US" sz="1100" dirty="0"/>
              <a:t> 모듈</a:t>
            </a:r>
            <a:r>
              <a:rPr lang="en-US" altLang="ko-KR" sz="1100" dirty="0"/>
              <a:t>2(</a:t>
            </a:r>
            <a:r>
              <a:rPr lang="ko-KR" altLang="en-US" sz="1100" dirty="0"/>
              <a:t>안전</a:t>
            </a:r>
            <a:r>
              <a:rPr lang="en-US" altLang="ko-KR" sz="1100" dirty="0"/>
              <a:t>/</a:t>
            </a:r>
            <a:r>
              <a:rPr lang="ko-KR" altLang="en-US" sz="1100" dirty="0"/>
              <a:t>노동 관련 대정부 업무 분석</a:t>
            </a:r>
            <a:r>
              <a:rPr lang="en-US" altLang="ko-KR" sz="1100" dirty="0"/>
              <a:t>) : </a:t>
            </a:r>
            <a:r>
              <a:rPr lang="ko-KR" altLang="en-US" sz="1100" dirty="0"/>
              <a:t>안전</a:t>
            </a:r>
            <a:r>
              <a:rPr lang="en-US" altLang="ko-KR" sz="1100" dirty="0"/>
              <a:t>/</a:t>
            </a:r>
            <a:r>
              <a:rPr lang="ko-KR" altLang="en-US" sz="1100" dirty="0"/>
              <a:t>노동 관련 대정부 업무를 위한 정보 분석</a:t>
            </a:r>
            <a:br>
              <a:rPr lang="en-US" altLang="ko-KR" sz="1100" dirty="0"/>
            </a:br>
            <a:r>
              <a:rPr lang="en-US" altLang="ko-KR" sz="1100" dirty="0"/>
              <a:t>-</a:t>
            </a:r>
            <a:r>
              <a:rPr lang="ko-KR" altLang="en-US" sz="1100"/>
              <a:t> 모듈</a:t>
            </a:r>
            <a:r>
              <a:rPr lang="en-US" altLang="ko-KR" sz="1100" dirty="0"/>
              <a:t>3(</a:t>
            </a:r>
            <a:r>
              <a:rPr lang="ko-KR" altLang="en-US" sz="1100" dirty="0"/>
              <a:t>이슈 분석</a:t>
            </a:r>
            <a:r>
              <a:rPr lang="en-US" altLang="ko-KR" sz="1100" dirty="0"/>
              <a:t>) : </a:t>
            </a:r>
            <a:r>
              <a:rPr lang="ko-KR" altLang="en-US" sz="1100" dirty="0"/>
              <a:t>그룹사별 뉴스 이슈 분석</a:t>
            </a:r>
            <a:br>
              <a:rPr lang="en-US" altLang="ko-KR" sz="1100" dirty="0"/>
            </a:br>
            <a:endParaRPr lang="en-US" altLang="ko-KR" sz="1100" dirty="0"/>
          </a:p>
          <a:p>
            <a:r>
              <a:rPr lang="ko-KR" altLang="ko-KR" sz="1100" b="1" dirty="0"/>
              <a:t>③기대효과</a:t>
            </a:r>
          </a:p>
          <a:p>
            <a:r>
              <a:rPr lang="ko-KR" altLang="ko-KR" sz="1100" dirty="0"/>
              <a:t>통합 플랫폼 기반 업무 혁신을 통해 비용 절감, 전략 중심 업무 전환, 신속한 의사결정, 데이터 기반 홍보 강화 및 그룹 시너지 창출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DFA50B2-79CC-219B-7B08-26EE06B6F8CE}"/>
              </a:ext>
            </a:extLst>
          </p:cNvPr>
          <p:cNvGrpSpPr/>
          <p:nvPr/>
        </p:nvGrpSpPr>
        <p:grpSpPr>
          <a:xfrm>
            <a:off x="2089884" y="260648"/>
            <a:ext cx="8437964" cy="826041"/>
            <a:chOff x="2770604" y="404664"/>
            <a:chExt cx="8437964" cy="826041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CBB54BD8-17B1-9147-F1B4-BEFB5CE9F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11970" y="910649"/>
              <a:ext cx="6107894" cy="320056"/>
            </a:xfrm>
            <a:prstGeom prst="rect">
              <a:avLst/>
            </a:prstGeom>
          </p:spPr>
        </p:pic>
        <p:sp>
          <p:nvSpPr>
            <p:cNvPr id="22" name="TextBox 12">
              <a:extLst>
                <a:ext uri="{FF2B5EF4-FFF2-40B4-BE49-F238E27FC236}">
                  <a16:creationId xmlns:a16="http://schemas.microsoft.com/office/drawing/2014/main" id="{B02D2919-9BDB-0AA8-21EE-9BD0F8D0AC0E}"/>
                </a:ext>
              </a:extLst>
            </p:cNvPr>
            <p:cNvSpPr txBox="1"/>
            <p:nvPr/>
          </p:nvSpPr>
          <p:spPr>
            <a:xfrm>
              <a:off x="2770604" y="404664"/>
              <a:ext cx="8437964" cy="745724"/>
            </a:xfrm>
            <a:prstGeom prst="rect">
              <a:avLst/>
            </a:prstGeom>
          </p:spPr>
          <p:txBody>
            <a:bodyPr lIns="0" tIns="33867" rIns="0" bIns="0" rtlCol="0" anchor="ctr"/>
            <a:lstStyle/>
            <a:p>
              <a:pPr marL="0" marR="0" lvl="0" indent="0" algn="ctr" defTabSz="457189" rtl="0" eaLnBrk="1" fontAlgn="auto" latinLnBrk="0" hangingPunct="1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333" b="1" i="0" u="none" strike="noStrike" kern="1200" cap="none" spc="-300" normalizeH="0" baseline="0" noProof="0" dirty="0">
                  <a:ln>
                    <a:noFill/>
                  </a:ln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95000"/>
                          <a:lumOff val="5000"/>
                        </a:scheme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+mn-ea"/>
                </a:rPr>
                <a:t>과제 정의서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C490B6A-69BA-8143-733D-E86C354DC7D5}"/>
              </a:ext>
            </a:extLst>
          </p:cNvPr>
          <p:cNvSpPr txBox="1"/>
          <p:nvPr/>
        </p:nvSpPr>
        <p:spPr>
          <a:xfrm>
            <a:off x="2461121" y="2856247"/>
            <a:ext cx="1731243" cy="245580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/>
          <a:p>
            <a:pPr algn="ctr" defTabSz="456057" latinLnBrk="0">
              <a:defRPr/>
            </a:pPr>
            <a:r>
              <a:rPr lang="en-US" altLang="ko-KR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【 As-Is </a:t>
            </a:r>
            <a:r>
              <a:rPr lang="ko-KR" altLang="en-US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업무모습 </a:t>
            </a:r>
            <a:r>
              <a:rPr lang="en-US" altLang="ko-KR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】</a:t>
            </a:r>
            <a:endParaRPr lang="ko-KR" altLang="en-US" sz="1596" b="1" kern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06D553-8F45-8984-AE90-0E429352C1D7}"/>
              </a:ext>
            </a:extLst>
          </p:cNvPr>
          <p:cNvSpPr txBox="1"/>
          <p:nvPr/>
        </p:nvSpPr>
        <p:spPr>
          <a:xfrm>
            <a:off x="7980892" y="2856247"/>
            <a:ext cx="1821012" cy="245580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/>
          <a:p>
            <a:pPr algn="ctr" defTabSz="456057" latinLnBrk="0">
              <a:defRPr/>
            </a:pPr>
            <a:r>
              <a:rPr lang="en-US" altLang="ko-KR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【 To-Be </a:t>
            </a:r>
            <a:r>
              <a:rPr lang="ko-KR" altLang="en-US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업무모습 </a:t>
            </a:r>
            <a:r>
              <a:rPr lang="en-US" altLang="ko-KR" sz="1596" b="1" kern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】</a:t>
            </a:r>
            <a:endParaRPr lang="ko-KR" altLang="en-US" sz="1596" b="1" kern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157B3AA2-99E6-344C-9636-5D43EBBFCC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828076"/>
              </p:ext>
            </p:extLst>
          </p:nvPr>
        </p:nvGraphicFramePr>
        <p:xfrm>
          <a:off x="480338" y="1308997"/>
          <a:ext cx="11213823" cy="137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935">
                  <a:extLst>
                    <a:ext uri="{9D8B030D-6E8A-4147-A177-3AD203B41FA5}">
                      <a16:colId xmlns:a16="http://schemas.microsoft.com/office/drawing/2014/main" val="3220620143"/>
                    </a:ext>
                  </a:extLst>
                </a:gridCol>
                <a:gridCol w="701548">
                  <a:extLst>
                    <a:ext uri="{9D8B030D-6E8A-4147-A177-3AD203B41FA5}">
                      <a16:colId xmlns:a16="http://schemas.microsoft.com/office/drawing/2014/main" val="2705089512"/>
                    </a:ext>
                  </a:extLst>
                </a:gridCol>
                <a:gridCol w="568884">
                  <a:extLst>
                    <a:ext uri="{9D8B030D-6E8A-4147-A177-3AD203B41FA5}">
                      <a16:colId xmlns:a16="http://schemas.microsoft.com/office/drawing/2014/main" val="3826095101"/>
                    </a:ext>
                  </a:extLst>
                </a:gridCol>
                <a:gridCol w="568884">
                  <a:extLst>
                    <a:ext uri="{9D8B030D-6E8A-4147-A177-3AD203B41FA5}">
                      <a16:colId xmlns:a16="http://schemas.microsoft.com/office/drawing/2014/main" val="3645500834"/>
                    </a:ext>
                  </a:extLst>
                </a:gridCol>
                <a:gridCol w="568884">
                  <a:extLst>
                    <a:ext uri="{9D8B030D-6E8A-4147-A177-3AD203B41FA5}">
                      <a16:colId xmlns:a16="http://schemas.microsoft.com/office/drawing/2014/main" val="2618381078"/>
                    </a:ext>
                  </a:extLst>
                </a:gridCol>
                <a:gridCol w="836462">
                  <a:extLst>
                    <a:ext uri="{9D8B030D-6E8A-4147-A177-3AD203B41FA5}">
                      <a16:colId xmlns:a16="http://schemas.microsoft.com/office/drawing/2014/main" val="2365500878"/>
                    </a:ext>
                  </a:extLst>
                </a:gridCol>
                <a:gridCol w="644210">
                  <a:extLst>
                    <a:ext uri="{9D8B030D-6E8A-4147-A177-3AD203B41FA5}">
                      <a16:colId xmlns:a16="http://schemas.microsoft.com/office/drawing/2014/main" val="3589677607"/>
                    </a:ext>
                  </a:extLst>
                </a:gridCol>
                <a:gridCol w="644210">
                  <a:extLst>
                    <a:ext uri="{9D8B030D-6E8A-4147-A177-3AD203B41FA5}">
                      <a16:colId xmlns:a16="http://schemas.microsoft.com/office/drawing/2014/main" val="2605633086"/>
                    </a:ext>
                  </a:extLst>
                </a:gridCol>
                <a:gridCol w="708293">
                  <a:extLst>
                    <a:ext uri="{9D8B030D-6E8A-4147-A177-3AD203B41FA5}">
                      <a16:colId xmlns:a16="http://schemas.microsoft.com/office/drawing/2014/main" val="267615173"/>
                    </a:ext>
                  </a:extLst>
                </a:gridCol>
                <a:gridCol w="708293">
                  <a:extLst>
                    <a:ext uri="{9D8B030D-6E8A-4147-A177-3AD203B41FA5}">
                      <a16:colId xmlns:a16="http://schemas.microsoft.com/office/drawing/2014/main" val="83709985"/>
                    </a:ext>
                  </a:extLst>
                </a:gridCol>
                <a:gridCol w="708293">
                  <a:extLst>
                    <a:ext uri="{9D8B030D-6E8A-4147-A177-3AD203B41FA5}">
                      <a16:colId xmlns:a16="http://schemas.microsoft.com/office/drawing/2014/main" val="525861917"/>
                    </a:ext>
                  </a:extLst>
                </a:gridCol>
                <a:gridCol w="613854">
                  <a:extLst>
                    <a:ext uri="{9D8B030D-6E8A-4147-A177-3AD203B41FA5}">
                      <a16:colId xmlns:a16="http://schemas.microsoft.com/office/drawing/2014/main" val="2268012820"/>
                    </a:ext>
                  </a:extLst>
                </a:gridCol>
                <a:gridCol w="788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191">
                  <a:extLst>
                    <a:ext uri="{9D8B030D-6E8A-4147-A177-3AD203B41FA5}">
                      <a16:colId xmlns:a16="http://schemas.microsoft.com/office/drawing/2014/main" val="30562283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과제명</a:t>
                      </a: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/>
                        <a:t>그룹 홍보 업무 효율화를 위한 ‘</a:t>
                      </a:r>
                      <a:r>
                        <a:rPr lang="en-US" altLang="ko-KR" sz="1100" b="1" dirty="0"/>
                        <a:t>AI </a:t>
                      </a:r>
                      <a:r>
                        <a:rPr lang="ko-KR" altLang="en-US" sz="1100" b="1" dirty="0"/>
                        <a:t>모델 구축’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담당자</a:t>
                      </a:r>
                      <a:endParaRPr lang="ko-KR" altLang="en-US"/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김대광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 차장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5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과제</a:t>
                      </a:r>
                      <a:endParaRPr lang="en-US" altLang="ko-KR" sz="11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r>
                        <a:rPr lang="ko-KR" altLang="en-US" sz="1100" dirty="0" err="1"/>
                        <a:t>포스코그룹</a:t>
                      </a:r>
                      <a:r>
                        <a:rPr lang="ko-KR" altLang="en-US" sz="1100" dirty="0"/>
                        <a:t> 대외 홍보 부서가 업무에 실질적으로 활용 가능한 그룹 공통 </a:t>
                      </a:r>
                      <a:r>
                        <a:rPr lang="en-US" altLang="ko-KR" sz="1100" dirty="0"/>
                        <a:t>AI </a:t>
                      </a:r>
                      <a:r>
                        <a:rPr lang="ko-KR" altLang="en-US" sz="1100" dirty="0"/>
                        <a:t>개발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1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1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1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추진일정</a:t>
                      </a:r>
                      <a:endParaRPr lang="ko-KR" altLang="en-US"/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업무</a:t>
                      </a:r>
                      <a:endParaRPr lang="en-US" altLang="ko-KR" sz="11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범위</a:t>
                      </a:r>
                      <a:endParaRPr lang="ko-KR" altLang="en-US" sz="11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latin typeface="+mn-ea"/>
                          <a:ea typeface="+mn-ea"/>
                        </a:rPr>
                        <a:t>단일부서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latin typeface="+mn-ea"/>
                          <a:ea typeface="+mn-ea"/>
                        </a:rPr>
                        <a:t>여러부서</a:t>
                      </a:r>
                      <a:endParaRPr lang="ko-KR" altLang="en-US" sz="1100" b="0" dirty="0"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/>
                        <a:t>전략적</a:t>
                      </a:r>
                      <a:endParaRPr lang="en-US" altLang="ko-KR" sz="1100" b="1"/>
                    </a:p>
                    <a:p>
                      <a:pPr algn="ctr" latinLnBrk="1"/>
                      <a:r>
                        <a:rPr lang="ko-KR" altLang="en-US" sz="1100" b="1"/>
                        <a:t>중요도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3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상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중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하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/>
                        <a:t>시스템</a:t>
                      </a:r>
                      <a:endParaRPr lang="en-US" altLang="ko-KR" sz="1100" b="1"/>
                    </a:p>
                    <a:p>
                      <a:pPr algn="ctr" latinLnBrk="1"/>
                      <a:r>
                        <a:rPr lang="ko-KR" altLang="en-US" sz="1100" b="1"/>
                        <a:t>보유</a:t>
                      </a:r>
                      <a:endParaRPr lang="en-US" altLang="ko-KR" sz="1100" b="1"/>
                    </a:p>
                    <a:p>
                      <a:pPr algn="ctr" latinLnBrk="1"/>
                      <a:r>
                        <a:rPr lang="ko-KR" altLang="en-US" sz="1100" b="1"/>
                        <a:t>여부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보유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미보유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/>
                        <a:t>업무</a:t>
                      </a:r>
                      <a:endParaRPr lang="en-US" altLang="ko-KR" sz="1100" b="1"/>
                    </a:p>
                    <a:p>
                      <a:pPr algn="ctr" latinLnBrk="1"/>
                      <a:r>
                        <a:rPr lang="ko-KR" altLang="en-US" sz="1100" b="1"/>
                        <a:t>유형</a:t>
                      </a:r>
                      <a:br>
                        <a:rPr lang="en-US" altLang="ko-KR" sz="1100" b="1"/>
                      </a:br>
                      <a:r>
                        <a:rPr lang="en-US" altLang="ko-KR" sz="900" b="1"/>
                        <a:t>(</a:t>
                      </a:r>
                      <a:r>
                        <a:rPr lang="ko-KR" altLang="en-US" sz="900" b="1"/>
                        <a:t>중복선택가능</a:t>
                      </a:r>
                      <a:r>
                        <a:rPr lang="en-US" altLang="ko-KR" sz="900" b="1"/>
                        <a:t>)</a:t>
                      </a:r>
                      <a:endParaRPr lang="ko-KR" altLang="en-US" sz="900" b="1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Assist</a:t>
                      </a:r>
                      <a:endParaRPr lang="ko-KR" altLang="en-US" sz="1100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Agent</a:t>
                      </a:r>
                      <a:endParaRPr lang="ko-KR" altLang="en-US" sz="1100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/>
                        <a:t>생산성</a:t>
                      </a:r>
                      <a:endParaRPr lang="en-US" altLang="ko-KR" sz="1100" b="1"/>
                    </a:p>
                    <a:p>
                      <a:pPr algn="ctr" latinLnBrk="1"/>
                      <a:r>
                        <a:rPr lang="ko-KR" altLang="en-US" sz="1100" b="1"/>
                        <a:t>효과</a:t>
                      </a:r>
                      <a:endParaRPr lang="en-US" altLang="ko-KR" sz="1100" b="1"/>
                    </a:p>
                    <a:p>
                      <a:pPr algn="ctr" latinLnBrk="1"/>
                      <a:r>
                        <a:rPr lang="en-US" altLang="ko-KR" sz="800" b="1"/>
                        <a:t>(</a:t>
                      </a:r>
                      <a:r>
                        <a:rPr lang="ko-KR" altLang="en-US" sz="800" b="1"/>
                        <a:t>인당</a:t>
                      </a:r>
                      <a:br>
                        <a:rPr lang="en-US" altLang="ko-KR" sz="800" b="1"/>
                      </a:br>
                      <a:r>
                        <a:rPr lang="ko-KR" altLang="en-US" sz="800" b="1"/>
                        <a:t> 생산성</a:t>
                      </a:r>
                      <a:r>
                        <a:rPr lang="en-US" altLang="ko-KR" sz="800" b="1"/>
                        <a:t>)</a:t>
                      </a:r>
                      <a:endParaRPr lang="ko-KR" altLang="en-US" sz="800" b="1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/>
                        <a:t>주관부서</a:t>
                      </a:r>
                      <a:endParaRPr lang="en-US" altLang="ko-KR" sz="800" b="1"/>
                    </a:p>
                    <a:p>
                      <a:pPr algn="ctr"/>
                      <a:r>
                        <a:rPr lang="en-US" altLang="ko-KR" sz="800" b="1"/>
                        <a:t> FTE</a:t>
                      </a:r>
                      <a:endParaRPr lang="ko-KR" altLang="en-US" sz="800" b="1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1" dirty="0"/>
                        <a:t>협업부서</a:t>
                      </a:r>
                      <a:endParaRPr lang="en-US" altLang="ko-KR" sz="800" b="1" dirty="0"/>
                    </a:p>
                    <a:p>
                      <a:pPr algn="ctr"/>
                      <a:r>
                        <a:rPr lang="en-US" altLang="ko-KR" sz="800" b="1" dirty="0"/>
                        <a:t>FTE</a:t>
                      </a:r>
                      <a:endParaRPr lang="ko-KR" altLang="en-US" sz="800" b="1" dirty="0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●</a:t>
                      </a:r>
                      <a:endParaRPr lang="ko-KR" altLang="en-US" sz="11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●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●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726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1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493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185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6587</TotalTime>
  <Words>327</Words>
  <Application>Microsoft Macintosh PowerPoint</Application>
  <PresentationFormat>와이드스크린</PresentationFormat>
  <Paragraphs>60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상희 김</dc:creator>
  <cp:lastModifiedBy>유구봉(Goo-Bong Yoo)_교수_DX교육섹션</cp:lastModifiedBy>
  <cp:revision>194</cp:revision>
  <dcterms:created xsi:type="dcterms:W3CDTF">2026-01-10T04:36:09Z</dcterms:created>
  <dcterms:modified xsi:type="dcterms:W3CDTF">2026-05-29T05:02:38Z</dcterms:modified>
</cp:coreProperties>
</file>